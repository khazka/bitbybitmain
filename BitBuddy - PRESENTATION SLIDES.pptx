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9" r:id="rId4"/>
    <p:sldId id="261" r:id="rId5"/>
    <p:sldId id="262" r:id="rId6"/>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723831-F81B-41CD-AE8E-A5985B9A5154}" type="datetimeFigureOut">
              <a:rPr lang="en-NG" smtClean="0"/>
              <a:t>04/04/2026</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5EFAC6-7500-4543-B071-A84762D0F64B}" type="slidenum">
              <a:rPr lang="en-NG" smtClean="0"/>
              <a:t>‹#›</a:t>
            </a:fld>
            <a:endParaRPr lang="en-NG"/>
          </a:p>
        </p:txBody>
      </p:sp>
    </p:spTree>
    <p:extLst>
      <p:ext uri="{BB962C8B-B14F-4D97-AF65-F5344CB8AC3E}">
        <p14:creationId xmlns:p14="http://schemas.microsoft.com/office/powerpoint/2010/main" val="2360061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main problem is that many students can’t access affordable tutoring, while also spending a lot of time on social media. At the same time, existing learning platforms aren’t engaging enough. So there’s a clear gap for something that is both accessible and designed around how students already use technology.</a:t>
            </a:r>
            <a:endParaRPr lang="en-NG" dirty="0"/>
          </a:p>
        </p:txBody>
      </p:sp>
      <p:sp>
        <p:nvSpPr>
          <p:cNvPr id="4" name="Slide Number Placeholder 3"/>
          <p:cNvSpPr>
            <a:spLocks noGrp="1"/>
          </p:cNvSpPr>
          <p:nvPr>
            <p:ph type="sldNum" sz="quarter" idx="5"/>
          </p:nvPr>
        </p:nvSpPr>
        <p:spPr/>
        <p:txBody>
          <a:bodyPr/>
          <a:lstStyle/>
          <a:p>
            <a:fld id="{035EFAC6-7500-4543-B071-A84762D0F64B}" type="slidenum">
              <a:rPr lang="en-NG" smtClean="0"/>
              <a:t>2</a:t>
            </a:fld>
            <a:endParaRPr lang="en-NG"/>
          </a:p>
        </p:txBody>
      </p:sp>
    </p:spTree>
    <p:extLst>
      <p:ext uri="{BB962C8B-B14F-4D97-AF65-F5344CB8AC3E}">
        <p14:creationId xmlns:p14="http://schemas.microsoft.com/office/powerpoint/2010/main" val="2391407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Bit Buddy targets secondary school students in the UK by offering an affordable combination of AI support and human tutor verification, using a freemium model that encourages users to upgrade to subscriptions.</a:t>
            </a:r>
          </a:p>
          <a:p>
            <a:r>
              <a:rPr lang="en-GB" dirty="0"/>
              <a:t>From a financial perspective, the business is highly viable due to its relatively low startup costs, estimated between £30,000 and £75,000. The subscription model creates consistent, recurring revenue, which makes income more predictable as the user base grows.</a:t>
            </a:r>
          </a:p>
          <a:p>
            <a:r>
              <a:rPr lang="en-GB" dirty="0"/>
              <a:t>We estimate breaking even at around 600 to 1,200 paying users, which is realistic given the size of the student market. Because this is a digital platform, it is highly scalable, meaning the cost of serving additional users is very low while revenue continues to increase.</a:t>
            </a:r>
          </a:p>
          <a:p>
            <a:r>
              <a:rPr lang="en-GB" dirty="0"/>
              <a:t>This creates strong revenue potential, ranging from around £96,000 to nearly £1 million annually as the platform expands. In the future, partnerships with schools will provide a more stable and reliable income stream.</a:t>
            </a:r>
          </a:p>
          <a:p>
            <a:r>
              <a:rPr lang="en-GB" dirty="0"/>
              <a:t>Overall, Bit Buddy combines affordability, scalability, and recurring revenue, making it a financially strong and sustainable business model.</a:t>
            </a:r>
          </a:p>
          <a:p>
            <a:endParaRPr lang="en-NG" dirty="0"/>
          </a:p>
        </p:txBody>
      </p:sp>
      <p:sp>
        <p:nvSpPr>
          <p:cNvPr id="4" name="Slide Number Placeholder 3"/>
          <p:cNvSpPr>
            <a:spLocks noGrp="1"/>
          </p:cNvSpPr>
          <p:nvPr>
            <p:ph type="sldNum" sz="quarter" idx="5"/>
          </p:nvPr>
        </p:nvSpPr>
        <p:spPr/>
        <p:txBody>
          <a:bodyPr/>
          <a:lstStyle/>
          <a:p>
            <a:fld id="{035EFAC6-7500-4543-B071-A84762D0F64B}" type="slidenum">
              <a:rPr lang="en-NG" smtClean="0"/>
              <a:t>3</a:t>
            </a:fld>
            <a:endParaRPr lang="en-NG"/>
          </a:p>
        </p:txBody>
      </p:sp>
    </p:spTree>
    <p:extLst>
      <p:ext uri="{BB962C8B-B14F-4D97-AF65-F5344CB8AC3E}">
        <p14:creationId xmlns:p14="http://schemas.microsoft.com/office/powerpoint/2010/main" val="3401506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15F25-91B5-283C-E575-BBF83CCD1C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6285A-B3D6-DCED-A4CC-FA148D9C6E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70E189-8CA9-3896-AB8C-20EE5C40D657}"/>
              </a:ext>
            </a:extLst>
          </p:cNvPr>
          <p:cNvSpPr>
            <a:spLocks noGrp="1"/>
          </p:cNvSpPr>
          <p:nvPr>
            <p:ph type="body" idx="1"/>
          </p:nvPr>
        </p:nvSpPr>
        <p:spPr/>
        <p:txBody>
          <a:bodyPr/>
          <a:lstStyle/>
          <a:p>
            <a:r>
              <a:rPr lang="en-GB" dirty="0"/>
              <a:t>Our team is well-suited to deliver this project because we combine both technical development and security expertise.</a:t>
            </a:r>
          </a:p>
          <a:p>
            <a:r>
              <a:rPr lang="en-GB" dirty="0"/>
              <a:t>With four computer science members, we have the skills needed to design and build a scalable, user-friendly platform, including the app, AI integration, and overall system performance.</a:t>
            </a:r>
          </a:p>
          <a:p>
            <a:r>
              <a:rPr lang="en-GB" dirty="0"/>
              <a:t>Our two cyber security specialists ensure the platform is safe and secure, which is especially important as we are working with students and handling personal data. They focus on data protection, user safety, and safeguarding compliance.</a:t>
            </a:r>
          </a:p>
          <a:p>
            <a:r>
              <a:rPr lang="en-GB" dirty="0"/>
              <a:t>This balance of development and security allows us to not only build Bit Buddy effectively, but also ensure it is trustworthy, reliable, and suitable for a young audience.</a:t>
            </a:r>
          </a:p>
          <a:p>
            <a:r>
              <a:rPr lang="en-GB" dirty="0"/>
              <a:t>Overall, our team has the right mix of skills to successfully develop, launch, and grow this platform, turning the idea into a secure, scalable, and real-world solution.</a:t>
            </a:r>
          </a:p>
          <a:p>
            <a:endParaRPr lang="en-NG" dirty="0"/>
          </a:p>
        </p:txBody>
      </p:sp>
      <p:sp>
        <p:nvSpPr>
          <p:cNvPr id="4" name="Slide Number Placeholder 3">
            <a:extLst>
              <a:ext uri="{FF2B5EF4-FFF2-40B4-BE49-F238E27FC236}">
                <a16:creationId xmlns:a16="http://schemas.microsoft.com/office/drawing/2014/main" id="{BB34F46C-F4EF-AC24-EB0F-E20A763826FA}"/>
              </a:ext>
            </a:extLst>
          </p:cNvPr>
          <p:cNvSpPr>
            <a:spLocks noGrp="1"/>
          </p:cNvSpPr>
          <p:nvPr>
            <p:ph type="sldNum" sz="quarter" idx="5"/>
          </p:nvPr>
        </p:nvSpPr>
        <p:spPr/>
        <p:txBody>
          <a:bodyPr/>
          <a:lstStyle/>
          <a:p>
            <a:fld id="{035EFAC6-7500-4543-B071-A84762D0F64B}" type="slidenum">
              <a:rPr lang="en-NG" smtClean="0"/>
              <a:t>4</a:t>
            </a:fld>
            <a:endParaRPr lang="en-NG"/>
          </a:p>
        </p:txBody>
      </p:sp>
    </p:spTree>
    <p:extLst>
      <p:ext uri="{BB962C8B-B14F-4D97-AF65-F5344CB8AC3E}">
        <p14:creationId xmlns:p14="http://schemas.microsoft.com/office/powerpoint/2010/main" val="322724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Bit Buddy takes something students already use every day and transforms it into a powerful tool for learning.</a:t>
            </a:r>
            <a:endParaRPr lang="en-NG" dirty="0"/>
          </a:p>
        </p:txBody>
      </p:sp>
      <p:sp>
        <p:nvSpPr>
          <p:cNvPr id="4" name="Slide Number Placeholder 3"/>
          <p:cNvSpPr>
            <a:spLocks noGrp="1"/>
          </p:cNvSpPr>
          <p:nvPr>
            <p:ph type="sldNum" sz="quarter" idx="5"/>
          </p:nvPr>
        </p:nvSpPr>
        <p:spPr/>
        <p:txBody>
          <a:bodyPr/>
          <a:lstStyle/>
          <a:p>
            <a:fld id="{035EFAC6-7500-4543-B071-A84762D0F64B}" type="slidenum">
              <a:rPr lang="en-NG" smtClean="0"/>
              <a:t>5</a:t>
            </a:fld>
            <a:endParaRPr lang="en-NG"/>
          </a:p>
        </p:txBody>
      </p:sp>
    </p:spTree>
    <p:extLst>
      <p:ext uri="{BB962C8B-B14F-4D97-AF65-F5344CB8AC3E}">
        <p14:creationId xmlns:p14="http://schemas.microsoft.com/office/powerpoint/2010/main" val="931527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BC44-E974-517F-1D39-4FCF081AA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8F2EB010-9968-BABD-2CE9-546ABB707B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D8F72E04-99F2-C11B-F607-40125BAAB23B}"/>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5" name="Footer Placeholder 4">
            <a:extLst>
              <a:ext uri="{FF2B5EF4-FFF2-40B4-BE49-F238E27FC236}">
                <a16:creationId xmlns:a16="http://schemas.microsoft.com/office/drawing/2014/main" id="{1CEA2F45-3BCC-08BF-2775-4FF71FE734F2}"/>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9F27FDA5-368A-EB9E-0B4B-13CC2A2F604E}"/>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360332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8B91B-48F1-1A03-5667-79864001ED35}"/>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C001BD21-C3E0-8D24-2902-3410C57360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84BD8850-D053-B31F-01F3-C6B89FC76137}"/>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5" name="Footer Placeholder 4">
            <a:extLst>
              <a:ext uri="{FF2B5EF4-FFF2-40B4-BE49-F238E27FC236}">
                <a16:creationId xmlns:a16="http://schemas.microsoft.com/office/drawing/2014/main" id="{53543801-BC86-6F5C-825D-43ECE9931B4B}"/>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D83EF595-2FA3-DF16-F855-10C36BC83CD1}"/>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3826201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B1172-922A-D885-3464-084C290D8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1AE20071-046A-9817-1BD2-98EF4180C0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A8B87A-34F3-1076-1576-6881E7440CAC}"/>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5" name="Footer Placeholder 4">
            <a:extLst>
              <a:ext uri="{FF2B5EF4-FFF2-40B4-BE49-F238E27FC236}">
                <a16:creationId xmlns:a16="http://schemas.microsoft.com/office/drawing/2014/main" id="{64E1CA35-A2D2-4A5A-D26A-CCFE0E501880}"/>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C6E4A6EA-254F-1644-B7D7-0B222C2F75B5}"/>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132195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E6A29-8D72-BB15-3F88-4C49AB17AD65}"/>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8978FE00-F5AD-7153-20C4-5B86D1E484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A8E0D3E8-FFAD-1E87-AC4F-1D8F85F701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8530867C-2757-3007-1B02-32C502755F2B}"/>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6" name="Footer Placeholder 5">
            <a:extLst>
              <a:ext uri="{FF2B5EF4-FFF2-40B4-BE49-F238E27FC236}">
                <a16:creationId xmlns:a16="http://schemas.microsoft.com/office/drawing/2014/main" id="{F1B4C3AD-5D12-E84C-D11A-C3ECBCB804C0}"/>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00305FFA-1132-2683-9025-B2E23C7A777B}"/>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2906447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77295-20B5-5D02-3AF2-2AE2EB0E043D}"/>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B83CFA26-DA40-F1F1-CF07-720F609FA6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B9EA1F-FD1E-CBD7-8754-BDD1BD8F7E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30B9F1E5-6AEA-F89F-3890-7B8085B40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ECB797-E491-6B62-60B9-14F3007644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94BD5E0F-4621-38F8-612B-7DB7CA8149B1}"/>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8" name="Footer Placeholder 7">
            <a:extLst>
              <a:ext uri="{FF2B5EF4-FFF2-40B4-BE49-F238E27FC236}">
                <a16:creationId xmlns:a16="http://schemas.microsoft.com/office/drawing/2014/main" id="{E89D5733-6612-64A8-860C-E9487C212452}"/>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ABA5C106-DFDE-604C-2C87-0BFD3388B91D}"/>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3827018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0D02A-037C-0641-5DF1-884B8BDD833B}"/>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56B9E29C-0F90-77A7-73DC-418AC4E14DD8}"/>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4" name="Footer Placeholder 3">
            <a:extLst>
              <a:ext uri="{FF2B5EF4-FFF2-40B4-BE49-F238E27FC236}">
                <a16:creationId xmlns:a16="http://schemas.microsoft.com/office/drawing/2014/main" id="{EA8CD458-90AC-4D32-F4FC-981E9135BFEB}"/>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D725565B-80F0-8905-BE81-181253244C44}"/>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3864914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82A8C6-D52A-E664-F091-51B87F89255C}"/>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3" name="Footer Placeholder 2">
            <a:extLst>
              <a:ext uri="{FF2B5EF4-FFF2-40B4-BE49-F238E27FC236}">
                <a16:creationId xmlns:a16="http://schemas.microsoft.com/office/drawing/2014/main" id="{CC5F6C87-FA5F-3AE5-3FB7-2DBFD962F831}"/>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5CB0DBC5-EB9D-BDF6-9C56-826099F71648}"/>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68070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408CB-E099-D1F0-67D1-85A073A752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FECBBF62-7F14-7298-70E5-F0566BC334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0B06663C-6B6A-D1DC-DFC9-AEC50BF234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CAEB30-9323-0EED-DAD5-2BEE63D28EA8}"/>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6" name="Footer Placeholder 5">
            <a:extLst>
              <a:ext uri="{FF2B5EF4-FFF2-40B4-BE49-F238E27FC236}">
                <a16:creationId xmlns:a16="http://schemas.microsoft.com/office/drawing/2014/main" id="{9CB84FCE-614E-EE5F-BE2F-33E10BE27938}"/>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1559D1A8-21A5-BF72-7701-DB0AAF82ACA9}"/>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422451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1B061-6E63-3822-4F5F-C983A9DAF1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8ADA7095-4E97-7394-DBBF-66F03141B9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FD7A4988-390F-0923-3BF4-BEFC925C25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CC8AAD-418A-B0CA-A6A8-19CABE054062}"/>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6" name="Footer Placeholder 5">
            <a:extLst>
              <a:ext uri="{FF2B5EF4-FFF2-40B4-BE49-F238E27FC236}">
                <a16:creationId xmlns:a16="http://schemas.microsoft.com/office/drawing/2014/main" id="{9B797C2F-C4F5-36AE-E358-479051DD451B}"/>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9B2C1C6B-D93F-94B6-826B-D84B9E70A9C5}"/>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1636375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15E09-EEB6-6BEC-2780-EA60BF58E5DA}"/>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684A8B31-4AB9-E827-36AA-F3D4EE56E2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19E56CA9-FE50-05E4-9566-B39F70583ADB}"/>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5" name="Footer Placeholder 4">
            <a:extLst>
              <a:ext uri="{FF2B5EF4-FFF2-40B4-BE49-F238E27FC236}">
                <a16:creationId xmlns:a16="http://schemas.microsoft.com/office/drawing/2014/main" id="{FC462C39-3D72-956E-2FDC-71D089DD3340}"/>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AF7A721B-66B9-52BE-F971-465C2AFB0CF2}"/>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901754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51A5AA-7653-B044-F549-2409AC9F82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052BB551-0534-4A92-4012-562FE8B41E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4D5E0B34-789A-9848-9FD3-4F4B6AFD5446}"/>
              </a:ext>
            </a:extLst>
          </p:cNvPr>
          <p:cNvSpPr>
            <a:spLocks noGrp="1"/>
          </p:cNvSpPr>
          <p:nvPr>
            <p:ph type="dt" sz="half" idx="10"/>
          </p:nvPr>
        </p:nvSpPr>
        <p:spPr/>
        <p:txBody>
          <a:bodyPr/>
          <a:lstStyle/>
          <a:p>
            <a:fld id="{3E1E05A0-55F6-4FC1-8638-59B0C5D12F66}" type="datetimeFigureOut">
              <a:rPr lang="en-NG" smtClean="0"/>
              <a:t>04/04/2026</a:t>
            </a:fld>
            <a:endParaRPr lang="en-NG"/>
          </a:p>
        </p:txBody>
      </p:sp>
      <p:sp>
        <p:nvSpPr>
          <p:cNvPr id="5" name="Footer Placeholder 4">
            <a:extLst>
              <a:ext uri="{FF2B5EF4-FFF2-40B4-BE49-F238E27FC236}">
                <a16:creationId xmlns:a16="http://schemas.microsoft.com/office/drawing/2014/main" id="{C67D0CE5-97F7-BA46-A5BC-591985C2948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7BC3A004-EA0D-745C-235C-531A5087398A}"/>
              </a:ext>
            </a:extLst>
          </p:cNvPr>
          <p:cNvSpPr>
            <a:spLocks noGrp="1"/>
          </p:cNvSpPr>
          <p:nvPr>
            <p:ph type="sldNum" sz="quarter" idx="12"/>
          </p:nvPr>
        </p:nvSpPr>
        <p:spPr/>
        <p:txBody>
          <a:bodyPr/>
          <a:lstStyle/>
          <a:p>
            <a:fld id="{2F567012-4F22-45EA-B413-8FC7F33799F8}" type="slidenum">
              <a:rPr lang="en-NG" smtClean="0"/>
              <a:t>‹#›</a:t>
            </a:fld>
            <a:endParaRPr lang="en-NG"/>
          </a:p>
        </p:txBody>
      </p:sp>
    </p:spTree>
    <p:extLst>
      <p:ext uri="{BB962C8B-B14F-4D97-AF65-F5344CB8AC3E}">
        <p14:creationId xmlns:p14="http://schemas.microsoft.com/office/powerpoint/2010/main" val="768581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9F1591-5173-04A1-5A18-70594BCA15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3C000A94-42E7-19E3-A467-743FF05D4D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5870CF81-EC74-6F53-1678-AF68EA67EC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1E05A0-55F6-4FC1-8638-59B0C5D12F66}" type="datetimeFigureOut">
              <a:rPr lang="en-NG" smtClean="0"/>
              <a:t>04/04/2026</a:t>
            </a:fld>
            <a:endParaRPr lang="en-NG"/>
          </a:p>
        </p:txBody>
      </p:sp>
      <p:sp>
        <p:nvSpPr>
          <p:cNvPr id="5" name="Footer Placeholder 4">
            <a:extLst>
              <a:ext uri="{FF2B5EF4-FFF2-40B4-BE49-F238E27FC236}">
                <a16:creationId xmlns:a16="http://schemas.microsoft.com/office/drawing/2014/main" id="{FC9A62CD-E9AF-9EAB-1C5F-59C82D22C3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G"/>
          </a:p>
        </p:txBody>
      </p:sp>
      <p:sp>
        <p:nvSpPr>
          <p:cNvPr id="6" name="Slide Number Placeholder 5">
            <a:extLst>
              <a:ext uri="{FF2B5EF4-FFF2-40B4-BE49-F238E27FC236}">
                <a16:creationId xmlns:a16="http://schemas.microsoft.com/office/drawing/2014/main" id="{D7C7F231-593F-C1AA-8647-737BEBE622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567012-4F22-45EA-B413-8FC7F33799F8}" type="slidenum">
              <a:rPr lang="en-NG" smtClean="0"/>
              <a:t>‹#›</a:t>
            </a:fld>
            <a:endParaRPr lang="en-NG"/>
          </a:p>
        </p:txBody>
      </p:sp>
    </p:spTree>
    <p:extLst>
      <p:ext uri="{BB962C8B-B14F-4D97-AF65-F5344CB8AC3E}">
        <p14:creationId xmlns:p14="http://schemas.microsoft.com/office/powerpoint/2010/main" val="1368398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9CB2B03C-642C-1DC8-0444-AC1809DB71DF}"/>
              </a:ext>
            </a:extLst>
          </p:cNvPr>
          <p:cNvSpPr>
            <a:spLocks noGrp="1"/>
          </p:cNvSpPr>
          <p:nvPr>
            <p:ph type="ctrTitle"/>
          </p:nvPr>
        </p:nvSpPr>
        <p:spPr>
          <a:xfrm>
            <a:off x="3502731" y="1542402"/>
            <a:ext cx="5186842" cy="2387918"/>
          </a:xfrm>
        </p:spPr>
        <p:txBody>
          <a:bodyPr anchor="b">
            <a:normAutofit/>
          </a:bodyPr>
          <a:lstStyle/>
          <a:p>
            <a:r>
              <a:rPr lang="en-GB" sz="8800" dirty="0" err="1">
                <a:solidFill>
                  <a:schemeClr val="accent6">
                    <a:lumMod val="75000"/>
                  </a:schemeClr>
                </a:solidFill>
                <a:latin typeface="Aharoni" panose="02010803020104030203" pitchFamily="2" charset="-79"/>
                <a:cs typeface="Aharoni" panose="02010803020104030203" pitchFamily="2" charset="-79"/>
              </a:rPr>
              <a:t>BitBuddy</a:t>
            </a:r>
            <a:endParaRPr lang="en-NG" sz="8800" dirty="0">
              <a:solidFill>
                <a:schemeClr val="accent6">
                  <a:lumMod val="75000"/>
                </a:schemeClr>
              </a:solidFill>
              <a:latin typeface="Aharoni" panose="02010803020104030203" pitchFamily="2" charset="-79"/>
              <a:cs typeface="Aharoni" panose="02010803020104030203" pitchFamily="2" charset="-79"/>
            </a:endParaRPr>
          </a:p>
        </p:txBody>
      </p:sp>
      <p:sp>
        <p:nvSpPr>
          <p:cNvPr id="3" name="Subtitle 2">
            <a:extLst>
              <a:ext uri="{FF2B5EF4-FFF2-40B4-BE49-F238E27FC236}">
                <a16:creationId xmlns:a16="http://schemas.microsoft.com/office/drawing/2014/main" id="{36D4979C-1EC6-F294-C739-D022913F513C}"/>
              </a:ext>
            </a:extLst>
          </p:cNvPr>
          <p:cNvSpPr>
            <a:spLocks noGrp="1"/>
          </p:cNvSpPr>
          <p:nvPr>
            <p:ph type="subTitle" idx="1"/>
          </p:nvPr>
        </p:nvSpPr>
        <p:spPr>
          <a:xfrm>
            <a:off x="3491481" y="3710184"/>
            <a:ext cx="5188034" cy="682079"/>
          </a:xfrm>
        </p:spPr>
        <p:txBody>
          <a:bodyPr>
            <a:normAutofit/>
          </a:bodyPr>
          <a:lstStyle/>
          <a:p>
            <a:r>
              <a:rPr lang="en-GB" dirty="0">
                <a:solidFill>
                  <a:schemeClr val="accent6">
                    <a:lumMod val="75000"/>
                  </a:schemeClr>
                </a:solidFill>
                <a:latin typeface="Aharoni" panose="02010803020104030203" pitchFamily="2" charset="-79"/>
                <a:cs typeface="Aharoni" panose="02010803020104030203" pitchFamily="2" charset="-79"/>
              </a:rPr>
              <a:t>By group </a:t>
            </a:r>
            <a:r>
              <a:rPr lang="en-GB" dirty="0" err="1">
                <a:solidFill>
                  <a:schemeClr val="accent6">
                    <a:lumMod val="75000"/>
                  </a:schemeClr>
                </a:solidFill>
                <a:latin typeface="Aharoni" panose="02010803020104030203" pitchFamily="2" charset="-79"/>
                <a:cs typeface="Aharoni" panose="02010803020104030203" pitchFamily="2" charset="-79"/>
              </a:rPr>
              <a:t>BitByBit</a:t>
            </a:r>
            <a:endParaRPr lang="en-NG" dirty="0">
              <a:solidFill>
                <a:schemeClr val="accent6">
                  <a:lumMod val="75000"/>
                </a:schemeClr>
              </a:solidFill>
              <a:latin typeface="Aharoni" panose="02010803020104030203" pitchFamily="2" charset="-79"/>
              <a:cs typeface="Aharoni" panose="02010803020104030203" pitchFamily="2" charset="-79"/>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92986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549981A-595E-6865-6FA1-196F1264E082}"/>
              </a:ext>
            </a:extLst>
          </p:cNvPr>
          <p:cNvSpPr>
            <a:spLocks noGrp="1"/>
          </p:cNvSpPr>
          <p:nvPr>
            <p:ph type="title"/>
          </p:nvPr>
        </p:nvSpPr>
        <p:spPr>
          <a:xfrm>
            <a:off x="2377902" y="-634301"/>
            <a:ext cx="7985298" cy="4371974"/>
          </a:xfrm>
        </p:spPr>
        <p:txBody>
          <a:bodyPr>
            <a:normAutofit/>
          </a:bodyPr>
          <a:lstStyle/>
          <a:p>
            <a:r>
              <a:rPr lang="en-GB" sz="8800" dirty="0">
                <a:solidFill>
                  <a:schemeClr val="accent6">
                    <a:lumMod val="75000"/>
                  </a:schemeClr>
                </a:solidFill>
                <a:latin typeface="Aharoni" panose="02010803020104030203" pitchFamily="2" charset="-79"/>
                <a:cs typeface="Aharoni" panose="02010803020104030203" pitchFamily="2" charset="-79"/>
              </a:rPr>
              <a:t>Problem space</a:t>
            </a:r>
            <a:endParaRPr lang="en-NG" sz="8800" dirty="0">
              <a:solidFill>
                <a:schemeClr val="accent6">
                  <a:lumMod val="75000"/>
                </a:schemeClr>
              </a:solidFill>
              <a:latin typeface="Aharoni" panose="02010803020104030203" pitchFamily="2" charset="-79"/>
              <a:cs typeface="Aharoni" panose="02010803020104030203" pitchFamily="2" charset="-79"/>
            </a:endParaRPr>
          </a:p>
        </p:txBody>
      </p:sp>
      <p:sp>
        <p:nvSpPr>
          <p:cNvPr id="3" name="Content Placeholder 2">
            <a:extLst>
              <a:ext uri="{FF2B5EF4-FFF2-40B4-BE49-F238E27FC236}">
                <a16:creationId xmlns:a16="http://schemas.microsoft.com/office/drawing/2014/main" id="{F8793E58-B1C4-D536-5BBE-97185F8CCD91}"/>
              </a:ext>
            </a:extLst>
          </p:cNvPr>
          <p:cNvSpPr>
            <a:spLocks noGrp="1"/>
          </p:cNvSpPr>
          <p:nvPr>
            <p:ph idx="1"/>
          </p:nvPr>
        </p:nvSpPr>
        <p:spPr>
          <a:xfrm>
            <a:off x="1427747" y="1991641"/>
            <a:ext cx="9757129" cy="4509737"/>
          </a:xfrm>
        </p:spPr>
        <p:txBody>
          <a:bodyPr anchor="ctr">
            <a:normAutofit/>
          </a:bodyPr>
          <a:lstStyle/>
          <a:p>
            <a:r>
              <a:rPr lang="en-GB" dirty="0">
                <a:solidFill>
                  <a:schemeClr val="tx2"/>
                </a:solidFill>
              </a:rPr>
              <a:t>Students lack affordable, accessible academic support</a:t>
            </a:r>
          </a:p>
          <a:p>
            <a:r>
              <a:rPr lang="en-GB" dirty="0">
                <a:solidFill>
                  <a:schemeClr val="tx2"/>
                </a:solidFill>
              </a:rPr>
              <a:t>Private tutoring is too expensive for many families</a:t>
            </a:r>
          </a:p>
          <a:p>
            <a:r>
              <a:rPr lang="en-GB" dirty="0">
                <a:solidFill>
                  <a:schemeClr val="tx2"/>
                </a:solidFill>
              </a:rPr>
              <a:t>Learning help is not available instantly when needed</a:t>
            </a:r>
          </a:p>
          <a:p>
            <a:r>
              <a:rPr lang="en-GB" dirty="0">
                <a:solidFill>
                  <a:schemeClr val="tx2"/>
                </a:solidFill>
              </a:rPr>
              <a:t>Social media dominates student attention buts adds low educational value</a:t>
            </a:r>
          </a:p>
          <a:p>
            <a:r>
              <a:rPr lang="en-GB" dirty="0">
                <a:solidFill>
                  <a:schemeClr val="tx2"/>
                </a:solidFill>
              </a:rPr>
              <a:t>Current platforms fail to engage students effectively</a:t>
            </a:r>
            <a:endParaRPr lang="en-NG" dirty="0">
              <a:solidFill>
                <a:schemeClr val="tx2"/>
              </a:solidFill>
            </a:endParaRPr>
          </a:p>
        </p:txBody>
      </p:sp>
    </p:spTree>
    <p:extLst>
      <p:ext uri="{BB962C8B-B14F-4D97-AF65-F5344CB8AC3E}">
        <p14:creationId xmlns:p14="http://schemas.microsoft.com/office/powerpoint/2010/main" val="2109906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3F6B5D15-9EB8-6331-178D-33BCF11EDCEF}"/>
              </a:ext>
            </a:extLst>
          </p:cNvPr>
          <p:cNvSpPr>
            <a:spLocks noGrp="1"/>
          </p:cNvSpPr>
          <p:nvPr>
            <p:ph type="title"/>
          </p:nvPr>
        </p:nvSpPr>
        <p:spPr>
          <a:xfrm>
            <a:off x="813291" y="1307182"/>
            <a:ext cx="4745898" cy="3264819"/>
          </a:xfrm>
        </p:spPr>
        <p:txBody>
          <a:bodyPr>
            <a:normAutofit/>
          </a:bodyPr>
          <a:lstStyle/>
          <a:p>
            <a:r>
              <a:rPr lang="en-GB" sz="8000" dirty="0">
                <a:solidFill>
                  <a:schemeClr val="accent6">
                    <a:lumMod val="75000"/>
                  </a:schemeClr>
                </a:solidFill>
                <a:latin typeface="Aharoni" panose="02010803020104030203" pitchFamily="2" charset="-79"/>
                <a:cs typeface="Aharoni" panose="02010803020104030203" pitchFamily="2" charset="-79"/>
              </a:rPr>
              <a:t>Business Model</a:t>
            </a:r>
            <a:endParaRPr lang="en-NG" sz="8000" dirty="0">
              <a:solidFill>
                <a:schemeClr val="accent6">
                  <a:lumMod val="75000"/>
                </a:schemeClr>
              </a:solidFill>
              <a:latin typeface="Aharoni" panose="02010803020104030203" pitchFamily="2" charset="-79"/>
              <a:cs typeface="Aharoni" panose="02010803020104030203" pitchFamily="2" charset="-79"/>
            </a:endParaRP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C657B6B4-150F-AA8E-1042-A34A33414499}"/>
              </a:ext>
            </a:extLst>
          </p:cNvPr>
          <p:cNvSpPr>
            <a:spLocks noGrp="1"/>
          </p:cNvSpPr>
          <p:nvPr>
            <p:ph idx="1"/>
          </p:nvPr>
        </p:nvSpPr>
        <p:spPr>
          <a:xfrm>
            <a:off x="5245768" y="1032987"/>
            <a:ext cx="6306152" cy="4792027"/>
          </a:xfrm>
        </p:spPr>
        <p:txBody>
          <a:bodyPr anchor="ctr">
            <a:normAutofit/>
          </a:bodyPr>
          <a:lstStyle/>
          <a:p>
            <a:r>
              <a:rPr lang="en-GB" sz="2400" dirty="0">
                <a:solidFill>
                  <a:schemeClr val="tx2"/>
                </a:solidFill>
              </a:rPr>
              <a:t>Target: Secondary school students (UK)</a:t>
            </a:r>
          </a:p>
          <a:p>
            <a:r>
              <a:rPr lang="en-GB" sz="2400" dirty="0">
                <a:solidFill>
                  <a:schemeClr val="tx2"/>
                </a:solidFill>
              </a:rPr>
              <a:t>Affordable AI + tutor support (freemium to subscription)</a:t>
            </a:r>
          </a:p>
          <a:p>
            <a:r>
              <a:rPr lang="en-GB" sz="2400" dirty="0">
                <a:solidFill>
                  <a:schemeClr val="tx2"/>
                </a:solidFill>
              </a:rPr>
              <a:t>Low startup costs (~30k-75k)</a:t>
            </a:r>
          </a:p>
          <a:p>
            <a:r>
              <a:rPr lang="en-GB" sz="2400" dirty="0">
                <a:solidFill>
                  <a:schemeClr val="tx2"/>
                </a:solidFill>
              </a:rPr>
              <a:t>Recurring revenue model (subscriptions)</a:t>
            </a:r>
          </a:p>
          <a:p>
            <a:r>
              <a:rPr lang="en-GB" sz="2400" dirty="0">
                <a:solidFill>
                  <a:schemeClr val="tx2"/>
                </a:solidFill>
              </a:rPr>
              <a:t>Break-even at ~600-1,200 users</a:t>
            </a:r>
          </a:p>
          <a:p>
            <a:r>
              <a:rPr lang="en-GB" sz="2400" dirty="0">
                <a:solidFill>
                  <a:schemeClr val="tx2"/>
                </a:solidFill>
              </a:rPr>
              <a:t>High scalability (low cost per extra user)</a:t>
            </a:r>
          </a:p>
          <a:p>
            <a:r>
              <a:rPr lang="en-GB" sz="2400" dirty="0">
                <a:solidFill>
                  <a:schemeClr val="tx2"/>
                </a:solidFill>
              </a:rPr>
              <a:t>Revenue potential (96k-960k/year as users grow)</a:t>
            </a:r>
          </a:p>
          <a:p>
            <a:r>
              <a:rPr lang="en-GB" sz="2400" dirty="0">
                <a:solidFill>
                  <a:schemeClr val="tx2"/>
                </a:solidFill>
              </a:rPr>
              <a:t>Future B2B school partnership for stability</a:t>
            </a:r>
            <a:endParaRPr lang="en-NG" sz="2400" dirty="0">
              <a:solidFill>
                <a:schemeClr val="tx2"/>
              </a:solidFill>
            </a:endParaRPr>
          </a:p>
        </p:txBody>
      </p:sp>
    </p:spTree>
    <p:extLst>
      <p:ext uri="{BB962C8B-B14F-4D97-AF65-F5344CB8AC3E}">
        <p14:creationId xmlns:p14="http://schemas.microsoft.com/office/powerpoint/2010/main" val="1772966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D85D61-226B-F650-8176-56B1E8C46F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F9E9F1-DAF1-E172-224C-07C3C70393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FAAC639-6139-DEE0-4602-7F6F88C30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FAD2000A-C262-BE30-38B4-BAB4AC7F49D1}"/>
              </a:ext>
            </a:extLst>
          </p:cNvPr>
          <p:cNvSpPr>
            <a:spLocks noGrp="1"/>
          </p:cNvSpPr>
          <p:nvPr>
            <p:ph type="title"/>
          </p:nvPr>
        </p:nvSpPr>
        <p:spPr>
          <a:xfrm>
            <a:off x="1041133" y="1444279"/>
            <a:ext cx="4745898" cy="3264819"/>
          </a:xfrm>
        </p:spPr>
        <p:txBody>
          <a:bodyPr>
            <a:normAutofit/>
          </a:bodyPr>
          <a:lstStyle/>
          <a:p>
            <a:r>
              <a:rPr lang="en-GB" sz="9600" dirty="0">
                <a:solidFill>
                  <a:schemeClr val="accent6">
                    <a:lumMod val="75000"/>
                  </a:schemeClr>
                </a:solidFill>
                <a:latin typeface="Aharoni" panose="02010803020104030203" pitchFamily="2" charset="-79"/>
                <a:cs typeface="Aharoni" panose="02010803020104030203" pitchFamily="2" charset="-79"/>
              </a:rPr>
              <a:t>Team</a:t>
            </a:r>
            <a:endParaRPr lang="en-NG" sz="9600" dirty="0">
              <a:solidFill>
                <a:schemeClr val="accent6">
                  <a:lumMod val="75000"/>
                </a:schemeClr>
              </a:solidFill>
              <a:latin typeface="Aharoni" panose="02010803020104030203" pitchFamily="2" charset="-79"/>
              <a:cs typeface="Aharoni" panose="02010803020104030203" pitchFamily="2" charset="-79"/>
            </a:endParaRPr>
          </a:p>
        </p:txBody>
      </p:sp>
      <p:grpSp>
        <p:nvGrpSpPr>
          <p:cNvPr id="12" name="Group 11">
            <a:extLst>
              <a:ext uri="{FF2B5EF4-FFF2-40B4-BE49-F238E27FC236}">
                <a16:creationId xmlns:a16="http://schemas.microsoft.com/office/drawing/2014/main" id="{C03F0DDC-1D60-85DB-0F05-6929689D35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682AFB0B-4CFF-0128-30BE-7BF74EC78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9626A2E-2F29-6598-17DF-45250E2A2A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FB0C333-9B93-7ADA-4ABC-0165A68E4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AD59C3D7-D323-77C9-C8DB-7E3CFACDE3E1}"/>
              </a:ext>
            </a:extLst>
          </p:cNvPr>
          <p:cNvSpPr>
            <a:spLocks noGrp="1"/>
          </p:cNvSpPr>
          <p:nvPr>
            <p:ph idx="1"/>
          </p:nvPr>
        </p:nvSpPr>
        <p:spPr>
          <a:xfrm>
            <a:off x="5245768" y="1032987"/>
            <a:ext cx="6306152" cy="4792027"/>
          </a:xfrm>
        </p:spPr>
        <p:txBody>
          <a:bodyPr anchor="ctr">
            <a:normAutofit/>
          </a:bodyPr>
          <a:lstStyle/>
          <a:p>
            <a:r>
              <a:rPr lang="en-GB" sz="4400" dirty="0">
                <a:solidFill>
                  <a:schemeClr val="tx2"/>
                </a:solidFill>
              </a:rPr>
              <a:t>Fatima Nasir Ahmed</a:t>
            </a:r>
          </a:p>
          <a:p>
            <a:r>
              <a:rPr lang="en-GB" sz="4400" dirty="0">
                <a:solidFill>
                  <a:schemeClr val="tx2"/>
                </a:solidFill>
              </a:rPr>
              <a:t>Keiko Azka</a:t>
            </a:r>
          </a:p>
          <a:p>
            <a:r>
              <a:rPr lang="en-GB" sz="4400" dirty="0">
                <a:solidFill>
                  <a:schemeClr val="tx2"/>
                </a:solidFill>
              </a:rPr>
              <a:t>Max Millian Marty</a:t>
            </a:r>
          </a:p>
          <a:p>
            <a:r>
              <a:rPr lang="en-GB" sz="4400" dirty="0" err="1">
                <a:solidFill>
                  <a:schemeClr val="tx2"/>
                </a:solidFill>
              </a:rPr>
              <a:t>Temisere</a:t>
            </a:r>
            <a:r>
              <a:rPr lang="en-GB" sz="4400" dirty="0">
                <a:solidFill>
                  <a:schemeClr val="tx2"/>
                </a:solidFill>
              </a:rPr>
              <a:t> </a:t>
            </a:r>
            <a:r>
              <a:rPr lang="en-GB" sz="4400" dirty="0" err="1">
                <a:solidFill>
                  <a:schemeClr val="tx2"/>
                </a:solidFill>
              </a:rPr>
              <a:t>Presely</a:t>
            </a:r>
            <a:endParaRPr lang="en-GB" sz="4400" dirty="0">
              <a:solidFill>
                <a:schemeClr val="tx2"/>
              </a:solidFill>
            </a:endParaRPr>
          </a:p>
          <a:p>
            <a:r>
              <a:rPr lang="en-GB" sz="4400" dirty="0">
                <a:solidFill>
                  <a:schemeClr val="tx2"/>
                </a:solidFill>
              </a:rPr>
              <a:t>Jeshurun </a:t>
            </a:r>
            <a:r>
              <a:rPr lang="en-GB" sz="4400" dirty="0" err="1">
                <a:solidFill>
                  <a:schemeClr val="tx2"/>
                </a:solidFill>
              </a:rPr>
              <a:t>olaide</a:t>
            </a:r>
            <a:endParaRPr lang="en-GB" sz="4400" dirty="0">
              <a:solidFill>
                <a:schemeClr val="tx2"/>
              </a:solidFill>
            </a:endParaRPr>
          </a:p>
          <a:p>
            <a:endParaRPr lang="en-NG" sz="2400" dirty="0">
              <a:solidFill>
                <a:schemeClr val="tx2"/>
              </a:solidFill>
            </a:endParaRPr>
          </a:p>
        </p:txBody>
      </p:sp>
    </p:spTree>
    <p:extLst>
      <p:ext uri="{BB962C8B-B14F-4D97-AF65-F5344CB8AC3E}">
        <p14:creationId xmlns:p14="http://schemas.microsoft.com/office/powerpoint/2010/main" val="49828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55290B-0F2E-7464-755C-6435AE588C6D}"/>
              </a:ext>
            </a:extLst>
          </p:cNvPr>
          <p:cNvSpPr>
            <a:spLocks noGrp="1"/>
          </p:cNvSpPr>
          <p:nvPr>
            <p:ph type="title"/>
          </p:nvPr>
        </p:nvSpPr>
        <p:spPr>
          <a:xfrm>
            <a:off x="368968" y="198828"/>
            <a:ext cx="6497053" cy="1807305"/>
          </a:xfrm>
        </p:spPr>
        <p:txBody>
          <a:bodyPr>
            <a:normAutofit/>
          </a:bodyPr>
          <a:lstStyle/>
          <a:p>
            <a:r>
              <a:rPr lang="en-GB" dirty="0">
                <a:solidFill>
                  <a:schemeClr val="accent6">
                    <a:lumMod val="75000"/>
                  </a:schemeClr>
                </a:solidFill>
                <a:latin typeface="Aharoni" panose="02010803020104030203" pitchFamily="2" charset="-79"/>
                <a:cs typeface="Aharoni" panose="02010803020104030203" pitchFamily="2" charset="-79"/>
              </a:rPr>
              <a:t>Turning Scroll Time into Study Time</a:t>
            </a:r>
            <a:endParaRPr lang="en-NG" dirty="0">
              <a:solidFill>
                <a:schemeClr val="accent6">
                  <a:lumMod val="75000"/>
                </a:schemeClr>
              </a:solidFill>
              <a:latin typeface="Aharoni" panose="02010803020104030203" pitchFamily="2" charset="-79"/>
              <a:cs typeface="Aharoni" panose="02010803020104030203" pitchFamily="2" charset="-79"/>
            </a:endParaRPr>
          </a:p>
        </p:txBody>
      </p:sp>
      <p:sp>
        <p:nvSpPr>
          <p:cNvPr id="9" name="Content Placeholder 8">
            <a:extLst>
              <a:ext uri="{FF2B5EF4-FFF2-40B4-BE49-F238E27FC236}">
                <a16:creationId xmlns:a16="http://schemas.microsoft.com/office/drawing/2014/main" id="{42428E06-7715-B1E2-0C3C-017D9ADB282F}"/>
              </a:ext>
            </a:extLst>
          </p:cNvPr>
          <p:cNvSpPr>
            <a:spLocks noGrp="1"/>
          </p:cNvSpPr>
          <p:nvPr>
            <p:ph idx="1"/>
          </p:nvPr>
        </p:nvSpPr>
        <p:spPr>
          <a:xfrm>
            <a:off x="938714" y="2204960"/>
            <a:ext cx="4619621" cy="3843666"/>
          </a:xfrm>
        </p:spPr>
        <p:txBody>
          <a:bodyPr>
            <a:normAutofit/>
          </a:bodyPr>
          <a:lstStyle/>
          <a:p>
            <a:pPr lvl="1"/>
            <a:r>
              <a:rPr lang="en-GB" sz="4400" dirty="0"/>
              <a:t>“A platform that feels like social media but works like a classroom.”</a:t>
            </a:r>
            <a:endParaRPr lang="en-US" sz="4400" dirty="0"/>
          </a:p>
        </p:txBody>
      </p:sp>
      <p:pic>
        <p:nvPicPr>
          <p:cNvPr id="5" name="Content Placeholder 4">
            <a:extLst>
              <a:ext uri="{FF2B5EF4-FFF2-40B4-BE49-F238E27FC236}">
                <a16:creationId xmlns:a16="http://schemas.microsoft.com/office/drawing/2014/main" id="{07087383-4D06-F1D7-A5A9-10A1C16A6F9B}"/>
              </a:ext>
            </a:extLst>
          </p:cNvPr>
          <p:cNvPicPr>
            <a:picLocks noChangeAspect="1"/>
          </p:cNvPicPr>
          <p:nvPr/>
        </p:nvPicPr>
        <p:blipFill>
          <a:blip r:embed="rId3">
            <a:extLst>
              <a:ext uri="{28A0092B-C50C-407E-A947-70E740481C1C}">
                <a14:useLocalDpi xmlns:a14="http://schemas.microsoft.com/office/drawing/2010/main" val="0"/>
              </a:ext>
            </a:extLst>
          </a:blip>
          <a:srcRect t="15017" r="-1" b="7924"/>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048492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8188</TotalTime>
  <Words>570</Words>
  <Application>Microsoft Office PowerPoint</Application>
  <PresentationFormat>Widescreen</PresentationFormat>
  <Paragraphs>41</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Aharoni</vt:lpstr>
      <vt:lpstr>Aptos</vt:lpstr>
      <vt:lpstr>Aptos Display</vt:lpstr>
      <vt:lpstr>Arial</vt:lpstr>
      <vt:lpstr>Office Theme</vt:lpstr>
      <vt:lpstr>BitBuddy</vt:lpstr>
      <vt:lpstr>Problem space</vt:lpstr>
      <vt:lpstr>Business Model</vt:lpstr>
      <vt:lpstr>Team</vt:lpstr>
      <vt:lpstr>Turning Scroll Time into Study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FATIMA NASIR AHMED (2332459)</dc:creator>
  <cp:lastModifiedBy>FATIMA NASIR AHMED (2332459)</cp:lastModifiedBy>
  <cp:revision>2</cp:revision>
  <dcterms:created xsi:type="dcterms:W3CDTF">2026-03-30T13:44:18Z</dcterms:created>
  <dcterms:modified xsi:type="dcterms:W3CDTF">2026-04-10T07:57:45Z</dcterms:modified>
</cp:coreProperties>
</file>